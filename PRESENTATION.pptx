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mAP@0.50:0.95</c:v>
                </c:pt>
              </c:strCache>
            </c:strRef>
          </c:tx>
          <c:spPr>
            <a:solidFill>
              <a:srgbClr val="9FB3C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FB3C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FB3C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FB3C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baseline 640px</c:v>
                  </c:pt>
                  <c:pt idx="1">
                    <c:v>320px (final)</c:v>
                  </c:pt>
                  <c:pt idx="2">
                    <c:v>no-mosaic 320px</c:v>
                  </c:pt>
                  <c:pt idx="3">
                    <c:v>yolov8s 320px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0.329</c:v>
                </c:pt>
                <c:pt idx="1">
                  <c:v>0.394</c:v>
                </c:pt>
                <c:pt idx="2">
                  <c:v>0.36</c:v>
                </c:pt>
                <c:pt idx="3">
                  <c:v>0.316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AP@0.50</c:v>
                </c:pt>
              </c:strCache>
            </c:strRef>
          </c:tx>
          <c:spPr>
            <a:solidFill>
              <a:srgbClr val="1D5F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D5F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D5F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D5F8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D5F8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patches</c:v>
                  </c:pt>
                  <c:pt idx="1">
                    <c:v>scratches</c:v>
                  </c:pt>
                  <c:pt idx="2">
                    <c:v>inclusion</c:v>
                  </c:pt>
                  <c:pt idx="3">
                    <c:v>pitted surf.</c:v>
                  </c:pt>
                  <c:pt idx="4">
                    <c:v>crazing</c:v>
                  </c:pt>
                  <c:pt idx="5">
                    <c:v>rolled-in scale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0.923</c:v>
                </c:pt>
                <c:pt idx="1">
                  <c:v>0.837</c:v>
                </c:pt>
                <c:pt idx="2">
                  <c:v>0.825</c:v>
                </c:pt>
                <c:pt idx="3">
                  <c:v>0.792</c:v>
                </c:pt>
                <c:pt idx="4">
                  <c:v>0.487</c:v>
                </c:pt>
                <c:pt idx="5">
                  <c:v>0.486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latency (ms)</c:v>
                </c:pt>
              </c:strCache>
            </c:strRef>
          </c:tx>
          <c:spPr>
            <a:solidFill>
              <a:srgbClr val="9FB3C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FB3C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FB3C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FB3C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PyTorch CUDA FP32</c:v>
                  </c:pt>
                  <c:pt idx="1">
                    <c:v>PyTorch CUDA FP16</c:v>
                  </c:pt>
                  <c:pt idx="2">
                    <c:v>ONNX Runtime CPU</c:v>
                  </c:pt>
                  <c:pt idx="3">
                    <c:v>PyTorch CPU FP32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12.8</c:v>
                </c:pt>
                <c:pt idx="1">
                  <c:v>13.5</c:v>
                </c:pt>
                <c:pt idx="2">
                  <c:v>16.2</c:v>
                </c:pt>
                <c:pt idx="3">
                  <c:v>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60120"/>
            <a:ext cx="822960" cy="822960"/>
          </a:xfrm>
          <a:prstGeom prst="roundRect">
            <a:avLst>
              <a:gd name="adj" fmla="val 10000"/>
            </a:avLst>
          </a:prstGeom>
          <a:solidFill>
            <a:srgbClr val="E8590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960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2057400"/>
            <a:ext cx="111831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INDUSTRIAL DEFECT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DETECTION SYSTEM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365760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8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Manufacturing Quality Control · NEU Surface Defects · YOLOv8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4663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72.5%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02920" y="5303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9D8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MAP@0.50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37560" y="4663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0.394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337560" y="5303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9D8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MAP@0.50:0.95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72200" y="4663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61.6 FPS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172200" y="5303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9D8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ONNX CPU EDGE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006840" y="4663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9006840" y="5303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9D8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DEFECT CLASSES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6035040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figures measured on the delivered system — NEU-DET validation set, GTX 1650 / CPU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presentation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611880" cy="1371600"/>
          </a:xfrm>
          <a:prstGeom prst="roundRect">
            <a:avLst>
              <a:gd name="adj" fmla="val 4667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373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48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&amp; impact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automated surface inspection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25112" y="1600200"/>
            <a:ext cx="3611880" cy="1371600"/>
          </a:xfrm>
          <a:prstGeom prst="roundRect">
            <a:avLst>
              <a:gd name="adj" fmla="val 4667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62272" y="17373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462272" y="2240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48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62272" y="2560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NEU-DET: 1,800 images, 6 defect classes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47304" y="1600200"/>
            <a:ext cx="3611880" cy="1371600"/>
          </a:xfrm>
          <a:prstGeom prst="roundRect">
            <a:avLst>
              <a:gd name="adj" fmla="val 4667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84464" y="17373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284464" y="2240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48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pipeline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84464" y="2560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VOC→YOLO conversion, validation, augmentation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172968"/>
            <a:ext cx="3611880" cy="1371600"/>
          </a:xfrm>
          <a:prstGeom prst="roundRect">
            <a:avLst>
              <a:gd name="adj" fmla="val 4667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31012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0080" y="38130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48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&amp; experiments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41330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YOLOv8n training, 4 measured experiments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25112" y="3172968"/>
            <a:ext cx="3611880" cy="1371600"/>
          </a:xfrm>
          <a:prstGeom prst="roundRect">
            <a:avLst>
              <a:gd name="adj" fmla="val 4667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62272" y="331012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462272" y="38130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48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462272" y="41330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 72.5 / 39.4, per-class AP, error analysis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47304" y="3172968"/>
            <a:ext cx="3611880" cy="1371600"/>
          </a:xfrm>
          <a:prstGeom prst="roundRect">
            <a:avLst>
              <a:gd name="adj" fmla="val 4667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84464" y="331012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284464" y="38130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48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optimisation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84464" y="41330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ONNX Runtime, 62 FPS on CPU, backend fallback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4745736"/>
            <a:ext cx="3611880" cy="1371600"/>
          </a:xfrm>
          <a:prstGeom prst="roundRect">
            <a:avLst>
              <a:gd name="adj" fmla="val 4667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" y="488289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40080" y="538581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48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control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0080" y="57058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PASS/REJECT, temporal confirmation, PLC simulation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25112" y="4745736"/>
            <a:ext cx="3611880" cy="1371600"/>
          </a:xfrm>
          <a:prstGeom prst="roundRect">
            <a:avLst>
              <a:gd name="adj" fmla="val 4667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462272" y="488289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4462272" y="538581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48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&amp; monitoring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462272" y="57058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FastAPI, dashboard, SQLite, Prometheus, Grafana, Docker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147304" y="4745736"/>
            <a:ext cx="3611880" cy="1371600"/>
          </a:xfrm>
          <a:prstGeom prst="roundRect">
            <a:avLst>
              <a:gd name="adj" fmla="val 4667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284464" y="488289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8284464" y="538581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48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Testing, limitations, demo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284464" y="57058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53 tests, honest constraints, live demo flow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steel inspection is slow, inconsistent and costly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6400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visual inspection of rolled steel is fatiguing and subjective — quality varies across shifts and inspectors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Escaped defects become manufacturing waste or reach end customers: rework, returns, reputation damage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Rule-based machine vision (fixed thresholds) cannot handle the visual variety of the six NEU defect classes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 learning object detection learns defect appearance directly from labelled images and runs in milliseconds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0" y="1554480"/>
            <a:ext cx="4389120" cy="4206240"/>
          </a:xfrm>
          <a:prstGeom prst="roundRect">
            <a:avLst>
              <a:gd name="adj" fmla="val 1522"/>
            </a:avLst>
          </a:prstGeom>
          <a:solidFill>
            <a:srgbClr val="EAF1F6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GOAL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589520" y="219456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Minimise manufacturing waste and prevent defective products from reaching end consumers — with consistent, unbiased, high-throughput quality control at the edge.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89520" y="43891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cloud. No paid services. Runs on a laptop-class machine next to the production line.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camera frame to sorting decision — in milliseconds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755648" cy="1691640"/>
          </a:xfrm>
          <a:prstGeom prst="roundRect">
            <a:avLst>
              <a:gd name="adj" fmla="val 4324"/>
            </a:avLst>
          </a:prstGeom>
          <a:solidFill>
            <a:srgbClr val="1D5F8A"/>
          </a:solidFill>
          <a:ln/>
        </p:spPr>
      </p:sp>
      <p:sp>
        <p:nvSpPr>
          <p:cNvPr id="5" name="Text 3"/>
          <p:cNvSpPr/>
          <p:nvPr/>
        </p:nvSpPr>
        <p:spPr>
          <a:xfrm>
            <a:off x="612648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D8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12648" y="23957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12648" y="2724912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webcam / video / RTSP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4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(OpenCV)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240280" y="24688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41448" y="1828800"/>
            <a:ext cx="1755648" cy="1691640"/>
          </a:xfrm>
          <a:prstGeom prst="roundRect">
            <a:avLst>
              <a:gd name="adj" fmla="val 4324"/>
            </a:avLst>
          </a:prstGeom>
          <a:solidFill>
            <a:srgbClr val="1D5F8A"/>
          </a:solidFill>
          <a:ln/>
        </p:spPr>
      </p:sp>
      <p:sp>
        <p:nvSpPr>
          <p:cNvPr id="10" name="Text 8"/>
          <p:cNvSpPr/>
          <p:nvPr/>
        </p:nvSpPr>
        <p:spPr>
          <a:xfrm>
            <a:off x="2551176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D8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51176" y="23957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Preprocess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51176" y="2724912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letterbox 320×320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4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RGB, /255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78808" y="24688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79976" y="1828800"/>
            <a:ext cx="1755648" cy="1691640"/>
          </a:xfrm>
          <a:prstGeom prst="roundRect">
            <a:avLst>
              <a:gd name="adj" fmla="val 4324"/>
            </a:avLst>
          </a:prstGeom>
          <a:solidFill>
            <a:srgbClr val="1D5F8A"/>
          </a:solidFill>
          <a:ln/>
        </p:spPr>
      </p:sp>
      <p:sp>
        <p:nvSpPr>
          <p:cNvPr id="15" name="Text 13"/>
          <p:cNvSpPr/>
          <p:nvPr/>
        </p:nvSpPr>
        <p:spPr>
          <a:xfrm>
            <a:off x="4489704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D8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489704" y="23957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489704" y="2724912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TensorRT ▸ ONNX 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4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PyTorch (auto, load-validated)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117336" y="24688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318504" y="1828800"/>
            <a:ext cx="1755648" cy="1691640"/>
          </a:xfrm>
          <a:prstGeom prst="roundRect">
            <a:avLst>
              <a:gd name="adj" fmla="val 4324"/>
            </a:avLst>
          </a:prstGeom>
          <a:solidFill>
            <a:srgbClr val="1D5F8A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D8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28232" y="23957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28232" y="2724912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classes · boxes ·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4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055864" y="24688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257032" y="1828800"/>
            <a:ext cx="1755648" cy="1691640"/>
          </a:xfrm>
          <a:prstGeom prst="roundRect">
            <a:avLst>
              <a:gd name="adj" fmla="val 4324"/>
            </a:avLst>
          </a:prstGeom>
          <a:solidFill>
            <a:srgbClr val="E8590C"/>
          </a:solidFill>
          <a:ln/>
        </p:spPr>
      </p:sp>
      <p:sp>
        <p:nvSpPr>
          <p:cNvPr id="25" name="Text 23"/>
          <p:cNvSpPr/>
          <p:nvPr/>
        </p:nvSpPr>
        <p:spPr>
          <a:xfrm>
            <a:off x="8366760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366760" y="23957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66760" y="2724912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temporal 2-of-3 →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4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 / REJECT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994392" y="24688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195560" y="1828800"/>
            <a:ext cx="1755648" cy="1691640"/>
          </a:xfrm>
          <a:prstGeom prst="roundRect">
            <a:avLst>
              <a:gd name="adj" fmla="val 4324"/>
            </a:avLst>
          </a:prstGeom>
          <a:solidFill>
            <a:srgbClr val="1D5F8A"/>
          </a:solidFill>
          <a:ln/>
        </p:spPr>
      </p:sp>
      <p:sp>
        <p:nvSpPr>
          <p:cNvPr id="30" name="Text 28"/>
          <p:cNvSpPr/>
          <p:nvPr/>
        </p:nvSpPr>
        <p:spPr>
          <a:xfrm>
            <a:off x="10305288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D8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305288" y="23957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 &amp; record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305288" y="2724912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PLC signal · SQLite ·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4ED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metrics · dashboard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2920" y="3977640"/>
            <a:ext cx="11183112" cy="1828800"/>
          </a:xfrm>
          <a:prstGeom prst="roundRect">
            <a:avLst>
              <a:gd name="adj" fmla="val 350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3152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PARALLEL MONITORING CHAIN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" y="4526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48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31520" y="48463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loaded once,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by all requests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688336" y="452628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944368" y="4526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48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944368" y="48463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10-page control-room UI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(live MJPEG feed)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01184" y="452628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157216" y="4526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48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157216" y="48463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inspection recorded,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filterable history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114032" y="452628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370064" y="4526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48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Prometheus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370064" y="48463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metric families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scraped every 5 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326880" y="452628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582912" y="4526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48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Grafana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9582912" y="48463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auto-provisioned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datasource + dashboard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02920" y="64190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Measured live snapshot: 25.9 ms total pipeline latency (13.7 ms inference) on ONNX Runtime CPU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NEU Surface Defect Database (NEU-DET)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651760" cy="1481328"/>
          </a:xfrm>
          <a:prstGeom prst="roundRect">
            <a:avLst>
              <a:gd name="adj" fmla="val 4321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7512" y="1682496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1,800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67512" y="245059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7512" y="2706624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grayscale 200×200 px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554480"/>
            <a:ext cx="2651760" cy="1481328"/>
          </a:xfrm>
          <a:prstGeom prst="roundRect">
            <a:avLst>
              <a:gd name="adj" fmla="val 4321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56432" y="1682496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4,189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456432" y="245059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BOUNDING BOXES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56432" y="2706624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Pascal VOC XML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80760" y="1554480"/>
            <a:ext cx="2651760" cy="1481328"/>
          </a:xfrm>
          <a:prstGeom prst="roundRect">
            <a:avLst>
              <a:gd name="adj" fmla="val 4321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45352" y="1682496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1,440 / 360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245352" y="245059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 / VAL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45352" y="2706624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split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869680" y="1554480"/>
            <a:ext cx="2679192" cy="1481328"/>
          </a:xfrm>
          <a:prstGeom prst="roundRect">
            <a:avLst>
              <a:gd name="adj" fmla="val 4321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34272" y="1682496"/>
            <a:ext cx="2350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034272" y="245059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DEFECT CLASSES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034272" y="2706624"/>
            <a:ext cx="235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balanced per image count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337560"/>
          <a:ext cx="74066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554480"/>
                <a:gridCol w="1371600"/>
                <a:gridCol w="25603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Class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Train objects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 objects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Appearance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F8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crazing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524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networks of fine cracks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inclusion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852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159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embedded foreign material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patches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688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193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patch-like surface damage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pitted_surface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345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87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small pits on the surface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rolled-in_scale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496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oxide scale rolled into surface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scratches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427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linear scratches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8229600" y="3337560"/>
            <a:ext cx="3502152" cy="2651760"/>
          </a:xfrm>
          <a:prstGeom prst="roundRect">
            <a:avLst>
              <a:gd name="adj" fmla="val 2414"/>
            </a:avLst>
          </a:prstGeom>
          <a:solidFill>
            <a:srgbClr val="EAF1F6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458200" y="3520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FACTS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458200" y="388620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1,033 / 1,439 train images have multiple defects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2.47× class imbalance (inclusion vs pitted_surface)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normal (defect-free) images exist in NEU-DET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Archive preserved untouched; XMLs never modified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02920" y="64190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NEU Surface Defect Database (NEU-DET), verified by our inspection scripts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conversion — no silent data loss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28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3042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48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" y="2816352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archive preserved untouched;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 data read-only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358444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1,800 images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70632" y="1691640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07792" y="1828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907792" y="23042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48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Convert VOC→YOLO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907792" y="2816352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normalised class cx cy w h;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degenerate boxes rejected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07792" y="358444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4,186 boxes kept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38344" y="1691640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75504" y="1828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175504" y="23042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48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175504" y="2816352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ids 0–5, coords in [0,1],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image-label pairs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175504" y="358444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valid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06056" y="1691640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43216" y="1828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443216" y="23042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48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check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443216" y="2816352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YOLO boxes re-drawn and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compared to source VOC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443216" y="358444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IoU ≥ 0.85 every box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573768" y="1691640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710928" y="1828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710928" y="23042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48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Augment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710928" y="2816352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online: mosaic, flips, ≤5° rotate;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offline: CLAHE/gamma/noise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710928" y="358444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bbox-safe only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4343400"/>
            <a:ext cx="11183112" cy="1600200"/>
          </a:xfrm>
          <a:prstGeom prst="roundRect">
            <a:avLst>
              <a:gd name="adj" fmla="val 4000"/>
            </a:avLst>
          </a:prstGeom>
          <a:solidFill>
            <a:srgbClr val="EAF1F6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152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" y="48463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single mis-converted bounding box silently teaches the model wrong locations. Every one of the 4,186 labels was machine-validated and 120 samples were visually compared against the original Pascal-VOC annotations — zero shift or distortion detected.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&amp; TRAINING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YOLOv8n — chosen for the edge, tuned for NEU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66751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6634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Setting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Value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F8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Architecture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YOLOv8n (3.0 M params, 8.1 GFLOPs) — COCO-pretrained transfer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Image size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320 px  (native source is 200×200 — 640 blurrs fine texture)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Epochs / batch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 / 16, early-stopping patience 12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Augmentation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mosaic, h-flip 0.5, ≤5° rotation, HSV-V 0.2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Optimizer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AdamW, lr0 = 0.01 (auto strategy)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Hardware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GTX 1650 4 GB (CUDA 12.1), Windows-safe workers = 0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600200"/>
            <a:ext cx="4206240" cy="3108960"/>
          </a:xfrm>
          <a:prstGeom prst="roundRect">
            <a:avLst>
              <a:gd name="adj" fmla="val 2059"/>
            </a:avLst>
          </a:prstGeom>
          <a:solidFill>
            <a:srgbClr val="EAF1F6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26680" y="1828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320 px? (measured)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26680" y="21945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640 px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726680" y="28529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mAP50 0.671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92640" y="21945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320 px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9692640" y="28529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mAP50 0.725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26680" y="324612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Upscaling 200 px source to 640 blurs defect texture and costs 4× compute — the smaller native-scale input trains faster AND scores higher.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498080" y="4892040"/>
            <a:ext cx="4206240" cy="1051560"/>
          </a:xfrm>
          <a:prstGeom prst="roundRect">
            <a:avLst>
              <a:gd name="adj" fmla="val 6087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726680" y="50292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Windows/CUDA pitfalls solved: torch cu126 vs driver 528.49 → cu121; dataloader spawn + CUDA crash → workers = 0; VRAM thrash at batch 16 → batch 8 (640) / 16 (320).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measured runs — the decision was evidence-driven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645920"/>
          <a:ext cx="65836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60920" y="1645920"/>
            <a:ext cx="4370832" cy="4206240"/>
          </a:xfrm>
          <a:prstGeom prst="roundRect">
            <a:avLst>
              <a:gd name="adj" fmla="val 1522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58952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LOG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589520" y="2212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8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baseline 640 px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589520" y="24871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mAP50 0.671 · P 0.600 · R 0.661 — converged, VRAM thrash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589520" y="31272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320 px (final)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589520" y="34015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mAP50 0.725 · P 0.686 · R 0.686 — best on every key metric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589520" y="40416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8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mosaic off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589520" y="43159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mAP50 0.705 — augmentation tuning rejected mosaic removal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589520" y="49560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8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yolov8s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589520" y="52303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mAP50 0.674, 3.4× larger — rejected (small dataset favours nano)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02920" y="64190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outputs/evaluation/experiment_comparison.csv — every run logged with config + metrics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YOLOv8n @ 320 px — 60 epochs — evaluated fresh on the validation 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697480" cy="1481328"/>
          </a:xfrm>
          <a:prstGeom prst="roundRect">
            <a:avLst>
              <a:gd name="adj" fmla="val 4321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7512" y="1682496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72.5%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67512" y="2450592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MAP@0.50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7512" y="2706624"/>
            <a:ext cx="2368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 360 images / 854 boxes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37560" y="1554480"/>
            <a:ext cx="2697480" cy="1481328"/>
          </a:xfrm>
          <a:prstGeom prst="roundRect">
            <a:avLst>
              <a:gd name="adj" fmla="val 4321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02152" y="1682496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39.4%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502152" y="2450592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MAP@0.50:0.95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02152" y="2706624"/>
            <a:ext cx="2368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IoU average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72200" y="1554480"/>
            <a:ext cx="2697480" cy="1481328"/>
          </a:xfrm>
          <a:prstGeom prst="roundRect">
            <a:avLst>
              <a:gd name="adj" fmla="val 4321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36792" y="1682496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68.6%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336792" y="2450592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36792" y="2706624"/>
            <a:ext cx="2368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equal to recall — balanced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06840" y="1554480"/>
            <a:ext cx="2651760" cy="1481328"/>
          </a:xfrm>
          <a:prstGeom prst="roundRect">
            <a:avLst>
              <a:gd name="adj" fmla="val 4321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71432" y="1682496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68.6%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171432" y="245059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RECALL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71432" y="2706624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F1 = 0.686</a:t>
            </a:r>
            <a:endParaRPr lang="en-US" sz="9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502920" y="3310128"/>
          <a:ext cx="67665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7543800" y="3310128"/>
            <a:ext cx="4187952" cy="3017520"/>
          </a:xfrm>
          <a:prstGeom prst="roundRect">
            <a:avLst>
              <a:gd name="adj" fmla="val 2121"/>
            </a:avLst>
          </a:prstGeom>
          <a:solidFill>
            <a:srgbClr val="EAF1F6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772400" y="3493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THE RESULTS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772400" y="3840480"/>
            <a:ext cx="3794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Patches, scratches, inclusion all exceed 0.82 AP50 — production-ready on those classes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Crazing &amp; rolled-in scale are the weak pair (fine, low-contrast textures) — 0.49 AP50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Confusion concentrates inside the crazing / pitted / scale texture family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02920" y="64190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outputs/evaluation/final/metrics.json + per_class_metrics.csv — measured, not estimated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ANALYSIS &amp; THRESHOLD TUNING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Choosing the operating point for quality control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394960" cy="2286000"/>
          </a:xfrm>
          <a:prstGeom prst="roundRect">
            <a:avLst>
              <a:gd name="adj" fmla="val 280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83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PROFILE (360 val images, conf 0.35)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561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 POSITIVES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468880" y="2148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258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468880" y="2788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 POSITIVES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06240" y="2148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206240" y="2788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 NEGATIVES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31520" y="33101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missed: crazing (95) · rolled-in scale (65).  Most false alarms: scratches (68), crazing (57).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600200"/>
          <a:ext cx="544068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960120"/>
                <a:gridCol w="868680"/>
                <a:gridCol w="731520"/>
                <a:gridCol w="1645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Confidence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Precision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Recall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 case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F8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0.25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0.683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0.685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0.684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recall-priority QC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590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0.35  ◄ selected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0.754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0.639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0.692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best F1, balanced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0.50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0.843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0.539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0.657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precision-priority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02920" y="4251960"/>
            <a:ext cx="11183112" cy="1691640"/>
          </a:xfrm>
          <a:prstGeom prst="roundRect">
            <a:avLst>
              <a:gd name="adj" fmla="val 3784"/>
            </a:avLst>
          </a:prstGeom>
          <a:solidFill>
            <a:srgbClr val="EAF1F6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3152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QUALITY-CONTROL LOGIC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31520" y="47548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 a real defect costs more than a false alarm — so the default (0.35) does not maximise precision. </a:t>
            </a:r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Temporal confirmation (2 of last 3 frames)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prevents one noisy frame from rejecting a part, and a </a:t>
            </a:r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s PLC debounce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turns 12 consecutive defect frames into exactly 1 reject command (measured decision latency 0.3–0.6 ms).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02920" y="64190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outputs/evaluation/final/threshold_analysis.json — single-pass multi-threshold evaluation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OPTIMISATION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model, same inputs — measured on this machine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645920"/>
          <a:ext cx="64922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645920"/>
            <a:ext cx="4416552" cy="3931920"/>
          </a:xfrm>
          <a:prstGeom prst="roundRect">
            <a:avLst>
              <a:gd name="adj" fmla="val 1628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543800" y="1828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ONNX RUNTIME CPU IS THE DEFAULT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543800" y="2331720"/>
            <a:ext cx="4023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p95 ≈ median (17.5 vs 16.2 ms) — CUDA here shows rare VRAM-stall spikes (WDDM shared GPU)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identical detections to PyTorch: 100% class agreement, box IoU 1.0, Δconf 0.0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GPU dependency — runs on any factory PC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61.6 FPS sustained, stable over 320-frame run (+2.6 MB RSS)</a:t>
            </a:r>
            <a:endParaRPr lang="en-US" sz="11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TensorRT: optional — auto-detected if an engine exists; reported unavailable here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02920" y="64190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outputs/evaluation/edge_benchmark.csv + onnx_consistency.json — 100 iterations per backend, warm-up excluded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CONTROL &amp; PLC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Industrial sorting logic, simulated safely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40680" cy="2011680"/>
          </a:xfrm>
          <a:prstGeom prst="roundRect">
            <a:avLst>
              <a:gd name="adj" fmla="val 3182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48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 / REJECT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258568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REJECT iff any defect ≥ 0.35 confidence.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Per-defect severity: LOW→CRITICAL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(class weight + confidence + area + count)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440680" cy="2011680"/>
          </a:xfrm>
          <a:prstGeom prst="roundRect">
            <a:avLst>
              <a:gd name="adj" fmla="val 3182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48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Temporal confirmation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6520" y="2258568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REJECT needs defects in ≥2 of the last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frames — a single noisy frame can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reject a part (unit-tested).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931920"/>
            <a:ext cx="5440680" cy="2011680"/>
          </a:xfrm>
          <a:prstGeom prst="roundRect">
            <a:avLst>
              <a:gd name="adj" fmla="val 3182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4114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48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PLC debounce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498848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s cooldown: one continuous defect =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reject command (12 defect frames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exactly 1 command, measured live).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931920"/>
            <a:ext cx="5440680" cy="2011680"/>
          </a:xfrm>
          <a:prstGeom prst="roundRect">
            <a:avLst>
              <a:gd name="adj" fmla="val 3182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4114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48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latency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4498848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confirmed decision → PLC dispatch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measured and exposed as a metric: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0.3–0.6 ms in live verification.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61722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PLC is clearly labelled SIMULATED in the UI — a PLCAdapter interface with a Modbus TCP skeleton makes a real controller a drop-in replacement.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backend + industrial control-room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440680" cy="4297680"/>
          </a:xfrm>
          <a:prstGeom prst="roundRect">
            <a:avLst>
              <a:gd name="adj" fmla="val 1489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83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(FASTAPI)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loaded once at startup — shared by every request and camera frame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/api/detect/image · /api/detect/video (multipart, validated)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MJPEG live stream (/api/video_feed) + camera start/stop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history: filters (status/class/severity), pagination, aggregates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400/413/422 errors — no stack traces reach clients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OpenAPI docs auto-generated at /docs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440680" cy="4297680"/>
          </a:xfrm>
          <a:prstGeom prst="roundRect">
            <a:avLst>
              <a:gd name="adj" fmla="val 1489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783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— 10 PAGES, ZERO FAKE 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92240" y="214884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Overview: real KPIs, 6 charts, recent events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Inspection: MJPEG feed, boxes + severity, PLC panel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 Inspection: drag&amp;drop + one-click NEU sample, download link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History: filters + pagination · Analytics: 6 real charts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Performance: measured metrics + edge benchmark table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 Explorer · System Health · Settings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61264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displayed figure comes from the API, SQLite, evaluation artifacts, benchmark files or live state — empty states are explicit.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 &amp; DEPLOYMENT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habits applied to a college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440680" cy="1920240"/>
          </a:xfrm>
          <a:prstGeom prst="roundRect">
            <a:avLst>
              <a:gd name="adj" fmla="val 3333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105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48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Prometheus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metric families on /metrics: requests, detections by class,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PASS/REJECT counters, latency histogram, camera status/uptime/FPS,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frames processed, PLC events + decision latency, API errors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440680" cy="1920240"/>
          </a:xfrm>
          <a:prstGeom prst="roundRect">
            <a:avLst>
              <a:gd name="adj" fmla="val 3333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8105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48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Grafana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6520" y="2194560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auto-provisioned datasource + dashboard JSON; live verification: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detection counter observed by Prometheus scrape (target UP)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794760"/>
            <a:ext cx="5440680" cy="1920240"/>
          </a:xfrm>
          <a:prstGeom prst="roundRect">
            <a:avLst>
              <a:gd name="adj" fmla="val 3333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9593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48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343400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compose up -d → app + prometheus + grafana verified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(CPU torch inside the image; models mounted as volumes)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3794760"/>
            <a:ext cx="5440680" cy="1920240"/>
          </a:xfrm>
          <a:prstGeom prst="roundRect">
            <a:avLst>
              <a:gd name="adj" fmla="val 3333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39593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48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Windows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4343400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one-command local run (uvicorn) — cold-start tested from 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terminal; identical behaviour to the container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5806440"/>
            <a:ext cx="11183112" cy="658368"/>
          </a:xfrm>
          <a:prstGeom prst="roundRect">
            <a:avLst>
              <a:gd name="adj" fmla="val 9722"/>
            </a:avLst>
          </a:prstGeom>
          <a:solidFill>
            <a:srgbClr val="EAF1F6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594360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live: a real detection through the containerised app incremented defect_detection_requests_total observed by the Prometheus scrape.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 &amp; QUALITY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53 automated tests + full manual verification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566160" cy="1481328"/>
          </a:xfrm>
          <a:prstGeom prst="roundRect">
            <a:avLst>
              <a:gd name="adj" fmla="val 4321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7512" y="1728216"/>
            <a:ext cx="3236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53 / 53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67512" y="2496312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PYTEST PASSED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7512" y="2752344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failed · 0 skipped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06240" y="1600200"/>
            <a:ext cx="3566160" cy="1481328"/>
          </a:xfrm>
          <a:prstGeom prst="roundRect">
            <a:avLst>
              <a:gd name="adj" fmla="val 4321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70832" y="1728216"/>
            <a:ext cx="3236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/ 20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370832" y="2496312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CHECKS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70832" y="2752344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endpoints + invalid inputs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909560" y="1600200"/>
            <a:ext cx="3794760" cy="1481328"/>
          </a:xfrm>
          <a:prstGeom prst="roundRect">
            <a:avLst>
              <a:gd name="adj" fmla="val 4321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74152" y="1728216"/>
            <a:ext cx="3465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5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074152" y="24963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PAGES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74152" y="2752344"/>
            <a:ext cx="3465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browser walkthrough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429000"/>
            <a:ext cx="11183112" cy="2468880"/>
          </a:xfrm>
          <a:prstGeom prst="roundRect">
            <a:avLst>
              <a:gd name="adj" fmla="val 2593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611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TESTS COVER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97764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Data: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VOC→YOLO maths, bbox normalisation bounds, degenerate-box rejection, class mapping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Decisions: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PASS/REJECT rules, severity grading, temporal validator (noise/persistence/slide/disable), PLC debounce &amp; cooldown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Robustness: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corrupt-ONNX → PyTorch fallback, all-models-missing error, model-file validation, DB round-trip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API: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health/status/classes/metrics schemas, invalid uploads (text/corrupt/missing), malformed requests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Stated honestly — because credibility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66420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48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defect-free samples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251960" y="16459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NEU-DET contains only defective images — PASS decisions (absence of detection) are unvalidated against pristine surfaces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487168"/>
            <a:ext cx="111556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59689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97280" y="257860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48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Single-dataset model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251960" y="257860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trained &amp; evaluated only on NEU; real-plant lighting/materials require fine-tuning — not production-certified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419856"/>
            <a:ext cx="111556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52958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97280" y="351129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48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Simulated PLC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251960" y="3511296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sorting is simulated through an adapter; Modbus TCP skeleton included but untested on hardware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352544"/>
            <a:ext cx="111556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46227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97280" y="44439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48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Environment bounds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251960" y="4443984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TensorRT not installed (optional, fallback verified) · RTSP accepted but untested against a live camera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5285232"/>
            <a:ext cx="111556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53949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097280" y="537667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48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Weak classes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251960" y="5376672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crazing and rolled-in scale sit at ≈0.49 AP50 — fine low-contrast textures remain hard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complete, measured, demonstrable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440680" cy="4434840"/>
          </a:xfrm>
          <a:prstGeom prst="roundRect">
            <a:avLst>
              <a:gd name="adj" fmla="val 1443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83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50292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6-class defect detector: mAP50 0.725 @ 320 px, 6.2 MB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 FPS CPU inference via ONNX — edge-ready without a GPU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 / video / live inspection with PASS/REJECT QC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Temporal confirmation + debounced PLC simulation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Dashboard, SQLite history, Prometheus + Grafana monitoring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deployment verified end-to-end; 53 tests green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440680" cy="4434840"/>
          </a:xfrm>
          <a:prstGeom prst="roundRect">
            <a:avLst>
              <a:gd name="adj" fmla="val 1443"/>
            </a:avLst>
          </a:prstGeom>
          <a:solidFill>
            <a:srgbClr val="EAF1F6"/>
          </a:solidFill>
          <a:ln/>
          <a:effectLst>
            <a:outerShdw sx="100000" sy="100000" kx="0" ky="0" algn="bl" rotWithShape="0" blurRad="88900" dist="25400" dir="2700000">
              <a:srgbClr val="1E293B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783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92240" y="2148840"/>
            <a:ext cx="50292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 defect-free surfaces; validate PASS decisions on pristine steel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Targeted augmentation + thresholds for crazing / rolled-in scale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TensorRT INT8 with a proper calibration set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Modbus TCP PLC over the existing adapter interface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Multi-camera line support with frame-queue load balancing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 minutes, in this order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00784"/>
            <a:ext cx="475488" cy="475488"/>
          </a:xfrm>
          <a:prstGeom prst="ellipse">
            <a:avLst/>
          </a:prstGeom>
          <a:solidFill>
            <a:srgbClr val="1D5F8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700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24712" y="16459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dashboard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24712" y="19476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 loads with real KPIs — no camera needed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700784"/>
            <a:ext cx="475488" cy="475488"/>
          </a:xfrm>
          <a:prstGeom prst="ellipse">
            <a:avLst/>
          </a:prstGeom>
          <a:solidFill>
            <a:srgbClr val="1D5F8A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1700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39712" y="16459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 Explorer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39712" y="19476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Scratches: real NEU images + ground-truth boxes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843784"/>
            <a:ext cx="475488" cy="475488"/>
          </a:xfrm>
          <a:prstGeom prst="ellipse">
            <a:avLst/>
          </a:prstGeom>
          <a:solidFill>
            <a:srgbClr val="1D5F8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843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24712" y="27889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 Inspection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24712" y="30906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Sample → REJECT banner, confidence + severity cards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843784"/>
            <a:ext cx="475488" cy="47548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2843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39712" y="27889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Inspection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39712" y="30906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camera: boxes, FPS, latency breakdown, PASS/REJECT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986784"/>
            <a:ext cx="475488" cy="475488"/>
          </a:xfrm>
          <a:prstGeom prst="ellipse">
            <a:avLst/>
          </a:prstGeom>
          <a:solidFill>
            <a:srgbClr val="1D5F8A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986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24712" y="39319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PLC panel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24712" y="42336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SIMULATED badge, reject signal, decision latency 0.3–0.6 ms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3986784"/>
            <a:ext cx="475488" cy="475488"/>
          </a:xfrm>
          <a:prstGeom prst="ellipse">
            <a:avLst/>
          </a:prstGeom>
          <a:solidFill>
            <a:srgbClr val="1D5F8A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3986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39712" y="39319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Performance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39712" y="42336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measured mAP / per-class AP / edge benchmark table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5129784"/>
            <a:ext cx="475488" cy="475488"/>
          </a:xfrm>
          <a:prstGeom prst="ellipse">
            <a:avLst/>
          </a:prstGeom>
          <a:solidFill>
            <a:srgbClr val="1D5F8A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5129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24712" y="50749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+ /metrics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124712" y="53766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services, CPU/RAM/GPU, then Prometheus + Grafana URLs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63093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is webcam-independent — steps 2, 3, 6, 7 run entirely from real recorded data.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0"/>
            <a:ext cx="111831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Minimise waste.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defects at the line.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at the edge.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02920" y="4114800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8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Industrial Defect Detection System — trained on NEU-DET, evaluated at 72.5% mAP@0.50,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8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deployed locally and in Docker, verified by 53 automated tests.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539496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 — questions welcome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6263640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Project: D:\NEU  ·  Documentation: README.md / PROJECT_DOCUMENTATION.md / FINAL_TEST_REPORT.md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Industrial Defect Detection System</dc:title>
  <dc:subject>PptxGenJS Presentation</dc:subject>
  <dc:creator>Real-Time Industrial Defect Detection System</dc:creator>
  <cp:lastModifiedBy>Real-Time Industrial Defect Detection System</cp:lastModifiedBy>
  <cp:revision>1</cp:revision>
  <dcterms:created xsi:type="dcterms:W3CDTF">2026-09-13T20:46:44Z</dcterms:created>
  <dcterms:modified xsi:type="dcterms:W3CDTF">2026-09-13T20:46:44Z</dcterms:modified>
</cp:coreProperties>
</file>